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redoka" charset="1" panose="02000000000000000000"/>
      <p:regular r:id="rId17"/>
    </p:embeddedFont>
    <p:embeddedFont>
      <p:font typeface="Capriola" charset="1" panose="0201060303050206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84478" y="7613116"/>
            <a:ext cx="4667973" cy="1137742"/>
            <a:chOff x="0" y="0"/>
            <a:chExt cx="204796832" cy="49915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204652056" cy="49771082"/>
            </a:xfrm>
            <a:custGeom>
              <a:avLst/>
              <a:gdLst/>
              <a:ahLst/>
              <a:cxnLst/>
              <a:rect r="r" b="b" t="t" l="l"/>
              <a:pathLst>
                <a:path h="49771082" w="204652056">
                  <a:moveTo>
                    <a:pt x="0" y="0"/>
                  </a:moveTo>
                  <a:lnTo>
                    <a:pt x="204652056" y="0"/>
                  </a:lnTo>
                  <a:lnTo>
                    <a:pt x="204652056" y="49771082"/>
                  </a:lnTo>
                  <a:lnTo>
                    <a:pt x="0" y="497710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796839" cy="49915862"/>
            </a:xfrm>
            <a:custGeom>
              <a:avLst/>
              <a:gdLst/>
              <a:ahLst/>
              <a:cxnLst/>
              <a:rect r="r" b="b" t="t" l="l"/>
              <a:pathLst>
                <a:path h="49915862" w="204796839">
                  <a:moveTo>
                    <a:pt x="204652054" y="49771083"/>
                  </a:moveTo>
                  <a:lnTo>
                    <a:pt x="204796839" y="49771083"/>
                  </a:lnTo>
                  <a:lnTo>
                    <a:pt x="204796839" y="49915862"/>
                  </a:lnTo>
                  <a:lnTo>
                    <a:pt x="204652054" y="49915862"/>
                  </a:lnTo>
                  <a:lnTo>
                    <a:pt x="204652054" y="4977108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9771083"/>
                  </a:lnTo>
                  <a:lnTo>
                    <a:pt x="0" y="49771083"/>
                  </a:lnTo>
                  <a:lnTo>
                    <a:pt x="0" y="144780"/>
                  </a:lnTo>
                  <a:close/>
                  <a:moveTo>
                    <a:pt x="0" y="49771083"/>
                  </a:moveTo>
                  <a:lnTo>
                    <a:pt x="144780" y="49771083"/>
                  </a:lnTo>
                  <a:lnTo>
                    <a:pt x="144780" y="49915862"/>
                  </a:lnTo>
                  <a:lnTo>
                    <a:pt x="0" y="49915862"/>
                  </a:lnTo>
                  <a:lnTo>
                    <a:pt x="0" y="49771083"/>
                  </a:lnTo>
                  <a:close/>
                  <a:moveTo>
                    <a:pt x="204652054" y="144780"/>
                  </a:moveTo>
                  <a:lnTo>
                    <a:pt x="204796839" y="144780"/>
                  </a:lnTo>
                  <a:lnTo>
                    <a:pt x="204796839" y="49771083"/>
                  </a:lnTo>
                  <a:lnTo>
                    <a:pt x="204652054" y="49771083"/>
                  </a:lnTo>
                  <a:lnTo>
                    <a:pt x="204652054" y="144780"/>
                  </a:lnTo>
                  <a:close/>
                  <a:moveTo>
                    <a:pt x="144780" y="49771083"/>
                  </a:moveTo>
                  <a:lnTo>
                    <a:pt x="204652054" y="49771083"/>
                  </a:lnTo>
                  <a:lnTo>
                    <a:pt x="204652054" y="49915862"/>
                  </a:lnTo>
                  <a:lnTo>
                    <a:pt x="144780" y="49915862"/>
                  </a:lnTo>
                  <a:lnTo>
                    <a:pt x="144780" y="49771083"/>
                  </a:lnTo>
                  <a:close/>
                  <a:moveTo>
                    <a:pt x="204652054" y="0"/>
                  </a:moveTo>
                  <a:lnTo>
                    <a:pt x="204796839" y="0"/>
                  </a:lnTo>
                  <a:lnTo>
                    <a:pt x="204796839" y="144780"/>
                  </a:lnTo>
                  <a:lnTo>
                    <a:pt x="204652054" y="144780"/>
                  </a:lnTo>
                  <a:lnTo>
                    <a:pt x="20465205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4652054" y="0"/>
                  </a:lnTo>
                  <a:lnTo>
                    <a:pt x="20465205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004663" y="5746100"/>
            <a:ext cx="6055518" cy="3512200"/>
          </a:xfrm>
          <a:custGeom>
            <a:avLst/>
            <a:gdLst/>
            <a:ahLst/>
            <a:cxnLst/>
            <a:rect r="r" b="b" t="t" l="l"/>
            <a:pathLst>
              <a:path h="3512200" w="6055518">
                <a:moveTo>
                  <a:pt x="0" y="0"/>
                </a:moveTo>
                <a:lnTo>
                  <a:pt x="6055518" y="0"/>
                </a:lnTo>
                <a:lnTo>
                  <a:pt x="6055518" y="3512200"/>
                </a:lnTo>
                <a:lnTo>
                  <a:pt x="0" y="351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12175"/>
            <a:ext cx="16230600" cy="473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ANALYSE ET PRÉDICTION AGRICOLE À PARTIR D'IMAGES SATELLITAIRES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70228" y="7813687"/>
            <a:ext cx="409647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Data analyst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6464" y="5964785"/>
            <a:ext cx="9144000" cy="95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  <a:spcBef>
                <a:spcPct val="0"/>
              </a:spcBef>
            </a:pPr>
            <a:r>
              <a:rPr lang="en-US" sz="2722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APPROCHE BASÉE SUR LA MODÉLISATION DES DONNÉES ENVIRONNEMENTALES ET SPECTRALES.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A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8348" y="1514475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OBJECTIFS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09304" y="3659865"/>
            <a:ext cx="13648688" cy="4294599"/>
            <a:chOff x="0" y="0"/>
            <a:chExt cx="598805476" cy="1884158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598660676" cy="188271090"/>
            </a:xfrm>
            <a:custGeom>
              <a:avLst/>
              <a:gdLst/>
              <a:ahLst/>
              <a:cxnLst/>
              <a:rect r="r" b="b" t="t" l="l"/>
              <a:pathLst>
                <a:path h="188271090" w="598660676">
                  <a:moveTo>
                    <a:pt x="0" y="0"/>
                  </a:moveTo>
                  <a:lnTo>
                    <a:pt x="598660676" y="0"/>
                  </a:lnTo>
                  <a:lnTo>
                    <a:pt x="598660676" y="188271090"/>
                  </a:lnTo>
                  <a:lnTo>
                    <a:pt x="0" y="188271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8805496" cy="188415873"/>
            </a:xfrm>
            <a:custGeom>
              <a:avLst/>
              <a:gdLst/>
              <a:ahLst/>
              <a:cxnLst/>
              <a:rect r="r" b="b" t="t" l="l"/>
              <a:pathLst>
                <a:path h="188415873" w="598805496">
                  <a:moveTo>
                    <a:pt x="598660686" y="188271088"/>
                  </a:moveTo>
                  <a:lnTo>
                    <a:pt x="598805496" y="188271088"/>
                  </a:lnTo>
                  <a:lnTo>
                    <a:pt x="598805496" y="188415873"/>
                  </a:lnTo>
                  <a:lnTo>
                    <a:pt x="598660686" y="188415873"/>
                  </a:lnTo>
                  <a:lnTo>
                    <a:pt x="598660686" y="18827108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8271088"/>
                  </a:lnTo>
                  <a:lnTo>
                    <a:pt x="0" y="188271088"/>
                  </a:lnTo>
                  <a:lnTo>
                    <a:pt x="0" y="144780"/>
                  </a:lnTo>
                  <a:close/>
                  <a:moveTo>
                    <a:pt x="0" y="188271088"/>
                  </a:moveTo>
                  <a:lnTo>
                    <a:pt x="144780" y="188271088"/>
                  </a:lnTo>
                  <a:lnTo>
                    <a:pt x="144780" y="188415873"/>
                  </a:lnTo>
                  <a:lnTo>
                    <a:pt x="0" y="188415873"/>
                  </a:lnTo>
                  <a:lnTo>
                    <a:pt x="0" y="188271088"/>
                  </a:lnTo>
                  <a:close/>
                  <a:moveTo>
                    <a:pt x="598660686" y="144780"/>
                  </a:moveTo>
                  <a:lnTo>
                    <a:pt x="598805496" y="144780"/>
                  </a:lnTo>
                  <a:lnTo>
                    <a:pt x="598805496" y="188271088"/>
                  </a:lnTo>
                  <a:lnTo>
                    <a:pt x="598660686" y="188271088"/>
                  </a:lnTo>
                  <a:lnTo>
                    <a:pt x="598660686" y="144780"/>
                  </a:lnTo>
                  <a:close/>
                  <a:moveTo>
                    <a:pt x="144780" y="188271088"/>
                  </a:moveTo>
                  <a:lnTo>
                    <a:pt x="598660686" y="188271088"/>
                  </a:lnTo>
                  <a:lnTo>
                    <a:pt x="598660686" y="188415873"/>
                  </a:lnTo>
                  <a:lnTo>
                    <a:pt x="144780" y="188415873"/>
                  </a:lnTo>
                  <a:lnTo>
                    <a:pt x="144780" y="188271088"/>
                  </a:lnTo>
                  <a:close/>
                  <a:moveTo>
                    <a:pt x="598660686" y="0"/>
                  </a:moveTo>
                  <a:lnTo>
                    <a:pt x="598805496" y="0"/>
                  </a:lnTo>
                  <a:lnTo>
                    <a:pt x="598805496" y="144780"/>
                  </a:lnTo>
                  <a:lnTo>
                    <a:pt x="598660686" y="144780"/>
                  </a:lnTo>
                  <a:lnTo>
                    <a:pt x="59866068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98660686" y="0"/>
                  </a:lnTo>
                  <a:lnTo>
                    <a:pt x="59866068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81447" y="3918035"/>
            <a:ext cx="13104402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Objectifs 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Analyser les conditions agricoles.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Optimiser les ressources agricoles grâce à des outils de prédiction.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Méthodologie : Utilisation de données satellitaires et terrain.</a:t>
            </a:r>
          </a:p>
          <a:p>
            <a:pPr algn="l">
              <a:lnSpc>
                <a:spcPts val="4480"/>
              </a:lnSpc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09707" y="6399937"/>
            <a:ext cx="9258300" cy="28555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8348" y="1514475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PARTIE 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09304" y="3659865"/>
            <a:ext cx="13648688" cy="4294599"/>
            <a:chOff x="0" y="0"/>
            <a:chExt cx="598805476" cy="1884158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598660676" cy="188271090"/>
            </a:xfrm>
            <a:custGeom>
              <a:avLst/>
              <a:gdLst/>
              <a:ahLst/>
              <a:cxnLst/>
              <a:rect r="r" b="b" t="t" l="l"/>
              <a:pathLst>
                <a:path h="188271090" w="598660676">
                  <a:moveTo>
                    <a:pt x="0" y="0"/>
                  </a:moveTo>
                  <a:lnTo>
                    <a:pt x="598660676" y="0"/>
                  </a:lnTo>
                  <a:lnTo>
                    <a:pt x="598660676" y="188271090"/>
                  </a:lnTo>
                  <a:lnTo>
                    <a:pt x="0" y="188271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8805496" cy="188415873"/>
            </a:xfrm>
            <a:custGeom>
              <a:avLst/>
              <a:gdLst/>
              <a:ahLst/>
              <a:cxnLst/>
              <a:rect r="r" b="b" t="t" l="l"/>
              <a:pathLst>
                <a:path h="188415873" w="598805496">
                  <a:moveTo>
                    <a:pt x="598660686" y="188271088"/>
                  </a:moveTo>
                  <a:lnTo>
                    <a:pt x="598805496" y="188271088"/>
                  </a:lnTo>
                  <a:lnTo>
                    <a:pt x="598805496" y="188415873"/>
                  </a:lnTo>
                  <a:lnTo>
                    <a:pt x="598660686" y="188415873"/>
                  </a:lnTo>
                  <a:lnTo>
                    <a:pt x="598660686" y="18827108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8271088"/>
                  </a:lnTo>
                  <a:lnTo>
                    <a:pt x="0" y="188271088"/>
                  </a:lnTo>
                  <a:lnTo>
                    <a:pt x="0" y="144780"/>
                  </a:lnTo>
                  <a:close/>
                  <a:moveTo>
                    <a:pt x="0" y="188271088"/>
                  </a:moveTo>
                  <a:lnTo>
                    <a:pt x="144780" y="188271088"/>
                  </a:lnTo>
                  <a:lnTo>
                    <a:pt x="144780" y="188415873"/>
                  </a:lnTo>
                  <a:lnTo>
                    <a:pt x="0" y="188415873"/>
                  </a:lnTo>
                  <a:lnTo>
                    <a:pt x="0" y="188271088"/>
                  </a:lnTo>
                  <a:close/>
                  <a:moveTo>
                    <a:pt x="598660686" y="144780"/>
                  </a:moveTo>
                  <a:lnTo>
                    <a:pt x="598805496" y="144780"/>
                  </a:lnTo>
                  <a:lnTo>
                    <a:pt x="598805496" y="188271088"/>
                  </a:lnTo>
                  <a:lnTo>
                    <a:pt x="598660686" y="188271088"/>
                  </a:lnTo>
                  <a:lnTo>
                    <a:pt x="598660686" y="144780"/>
                  </a:lnTo>
                  <a:close/>
                  <a:moveTo>
                    <a:pt x="144780" y="188271088"/>
                  </a:moveTo>
                  <a:lnTo>
                    <a:pt x="598660686" y="188271088"/>
                  </a:lnTo>
                  <a:lnTo>
                    <a:pt x="598660686" y="188415873"/>
                  </a:lnTo>
                  <a:lnTo>
                    <a:pt x="144780" y="188415873"/>
                  </a:lnTo>
                  <a:lnTo>
                    <a:pt x="144780" y="188271088"/>
                  </a:lnTo>
                  <a:close/>
                  <a:moveTo>
                    <a:pt x="598660686" y="0"/>
                  </a:moveTo>
                  <a:lnTo>
                    <a:pt x="598805496" y="0"/>
                  </a:lnTo>
                  <a:lnTo>
                    <a:pt x="598805496" y="144780"/>
                  </a:lnTo>
                  <a:lnTo>
                    <a:pt x="598660686" y="144780"/>
                  </a:lnTo>
                  <a:lnTo>
                    <a:pt x="59866068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98660686" y="0"/>
                  </a:lnTo>
                  <a:lnTo>
                    <a:pt x="59866068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91799" y="4385717"/>
            <a:ext cx="13104402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Partie 1 : Analyse des Données Agricoles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Objectifs : Comprendre les caractéristiques des données agricoles.</a:t>
            </a:r>
          </a:p>
          <a:p>
            <a:pPr algn="l">
              <a:lnSpc>
                <a:spcPts val="4480"/>
              </a:lnSpc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57460" y="7191103"/>
            <a:ext cx="4134395" cy="2411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38656" y="3589380"/>
            <a:ext cx="14410688" cy="4648385"/>
            <a:chOff x="0" y="0"/>
            <a:chExt cx="632236513" cy="203937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32091740" cy="203792648"/>
            </a:xfrm>
            <a:custGeom>
              <a:avLst/>
              <a:gdLst/>
              <a:ahLst/>
              <a:cxnLst/>
              <a:rect r="r" b="b" t="t" l="l"/>
              <a:pathLst>
                <a:path h="203792648" w="632091740">
                  <a:moveTo>
                    <a:pt x="0" y="0"/>
                  </a:moveTo>
                  <a:lnTo>
                    <a:pt x="632091740" y="0"/>
                  </a:lnTo>
                  <a:lnTo>
                    <a:pt x="632091740" y="203792648"/>
                  </a:lnTo>
                  <a:lnTo>
                    <a:pt x="0" y="203792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2236510" cy="203937419"/>
            </a:xfrm>
            <a:custGeom>
              <a:avLst/>
              <a:gdLst/>
              <a:ahLst/>
              <a:cxnLst/>
              <a:rect r="r" b="b" t="t" l="l"/>
              <a:pathLst>
                <a:path h="203937419" w="632236510">
                  <a:moveTo>
                    <a:pt x="632091750" y="203792646"/>
                  </a:moveTo>
                  <a:lnTo>
                    <a:pt x="632236510" y="203792646"/>
                  </a:lnTo>
                  <a:lnTo>
                    <a:pt x="632236510" y="203937419"/>
                  </a:lnTo>
                  <a:lnTo>
                    <a:pt x="632091750" y="203937419"/>
                  </a:lnTo>
                  <a:lnTo>
                    <a:pt x="632091750" y="20379264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03792646"/>
                  </a:lnTo>
                  <a:lnTo>
                    <a:pt x="0" y="203792646"/>
                  </a:lnTo>
                  <a:lnTo>
                    <a:pt x="0" y="144780"/>
                  </a:lnTo>
                  <a:close/>
                  <a:moveTo>
                    <a:pt x="0" y="203792646"/>
                  </a:moveTo>
                  <a:lnTo>
                    <a:pt x="144780" y="203792646"/>
                  </a:lnTo>
                  <a:lnTo>
                    <a:pt x="144780" y="203937419"/>
                  </a:lnTo>
                  <a:lnTo>
                    <a:pt x="0" y="203937419"/>
                  </a:lnTo>
                  <a:lnTo>
                    <a:pt x="0" y="203792646"/>
                  </a:lnTo>
                  <a:close/>
                  <a:moveTo>
                    <a:pt x="632091750" y="144780"/>
                  </a:moveTo>
                  <a:lnTo>
                    <a:pt x="632236510" y="144780"/>
                  </a:lnTo>
                  <a:lnTo>
                    <a:pt x="632236510" y="203792646"/>
                  </a:lnTo>
                  <a:lnTo>
                    <a:pt x="632091750" y="203792646"/>
                  </a:lnTo>
                  <a:lnTo>
                    <a:pt x="632091750" y="144780"/>
                  </a:lnTo>
                  <a:close/>
                  <a:moveTo>
                    <a:pt x="144780" y="203792646"/>
                  </a:moveTo>
                  <a:lnTo>
                    <a:pt x="632091750" y="203792646"/>
                  </a:lnTo>
                  <a:lnTo>
                    <a:pt x="632091750" y="203937419"/>
                  </a:lnTo>
                  <a:lnTo>
                    <a:pt x="144780" y="203937419"/>
                  </a:lnTo>
                  <a:lnTo>
                    <a:pt x="144780" y="203792646"/>
                  </a:lnTo>
                  <a:close/>
                  <a:moveTo>
                    <a:pt x="632091750" y="0"/>
                  </a:moveTo>
                  <a:lnTo>
                    <a:pt x="632236510" y="0"/>
                  </a:lnTo>
                  <a:lnTo>
                    <a:pt x="632236510" y="144780"/>
                  </a:lnTo>
                  <a:lnTo>
                    <a:pt x="632091750" y="144780"/>
                  </a:lnTo>
                  <a:lnTo>
                    <a:pt x="63209175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32091750" y="0"/>
                  </a:lnTo>
                  <a:lnTo>
                    <a:pt x="63209175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46985" y="3947368"/>
            <a:ext cx="13104402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Identification des seuils critiques pour N, P, K, etc.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Détection de regroupements naturels basés sur les besoins climatiques.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75372" y="7670449"/>
            <a:ext cx="2383928" cy="1960781"/>
          </a:xfrm>
          <a:custGeom>
            <a:avLst/>
            <a:gdLst/>
            <a:ahLst/>
            <a:cxnLst/>
            <a:rect r="r" b="b" t="t" l="l"/>
            <a:pathLst>
              <a:path h="1960781" w="2383928">
                <a:moveTo>
                  <a:pt x="0" y="0"/>
                </a:moveTo>
                <a:lnTo>
                  <a:pt x="2383928" y="0"/>
                </a:lnTo>
                <a:lnTo>
                  <a:pt x="2383928" y="1960781"/>
                </a:lnTo>
                <a:lnTo>
                  <a:pt x="0" y="196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568904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RÉSULTATS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A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7304" y="3231624"/>
            <a:ext cx="11444330" cy="5524093"/>
            <a:chOff x="0" y="0"/>
            <a:chExt cx="502094263" cy="242357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501949482" cy="242212406"/>
            </a:xfrm>
            <a:custGeom>
              <a:avLst/>
              <a:gdLst/>
              <a:ahLst/>
              <a:cxnLst/>
              <a:rect r="r" b="b" t="t" l="l"/>
              <a:pathLst>
                <a:path h="242212406" w="501949482">
                  <a:moveTo>
                    <a:pt x="0" y="0"/>
                  </a:moveTo>
                  <a:lnTo>
                    <a:pt x="501949482" y="0"/>
                  </a:lnTo>
                  <a:lnTo>
                    <a:pt x="501949482" y="242212406"/>
                  </a:lnTo>
                  <a:lnTo>
                    <a:pt x="0" y="242212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094252" cy="242357176"/>
            </a:xfrm>
            <a:custGeom>
              <a:avLst/>
              <a:gdLst/>
              <a:ahLst/>
              <a:cxnLst/>
              <a:rect r="r" b="b" t="t" l="l"/>
              <a:pathLst>
                <a:path h="242357176" w="502094252">
                  <a:moveTo>
                    <a:pt x="501949492" y="242212391"/>
                  </a:moveTo>
                  <a:lnTo>
                    <a:pt x="502094252" y="242212391"/>
                  </a:lnTo>
                  <a:lnTo>
                    <a:pt x="502094252" y="242357176"/>
                  </a:lnTo>
                  <a:lnTo>
                    <a:pt x="501949492" y="242357176"/>
                  </a:lnTo>
                  <a:lnTo>
                    <a:pt x="501949492" y="2422123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2212391"/>
                  </a:lnTo>
                  <a:lnTo>
                    <a:pt x="0" y="242212391"/>
                  </a:lnTo>
                  <a:lnTo>
                    <a:pt x="0" y="144780"/>
                  </a:lnTo>
                  <a:close/>
                  <a:moveTo>
                    <a:pt x="0" y="242212391"/>
                  </a:moveTo>
                  <a:lnTo>
                    <a:pt x="144780" y="242212391"/>
                  </a:lnTo>
                  <a:lnTo>
                    <a:pt x="144780" y="242357176"/>
                  </a:lnTo>
                  <a:lnTo>
                    <a:pt x="0" y="242357176"/>
                  </a:lnTo>
                  <a:lnTo>
                    <a:pt x="0" y="242212391"/>
                  </a:lnTo>
                  <a:close/>
                  <a:moveTo>
                    <a:pt x="501949492" y="144780"/>
                  </a:moveTo>
                  <a:lnTo>
                    <a:pt x="502094252" y="144780"/>
                  </a:lnTo>
                  <a:lnTo>
                    <a:pt x="502094252" y="242212391"/>
                  </a:lnTo>
                  <a:lnTo>
                    <a:pt x="501949492" y="242212391"/>
                  </a:lnTo>
                  <a:lnTo>
                    <a:pt x="501949492" y="144780"/>
                  </a:lnTo>
                  <a:close/>
                  <a:moveTo>
                    <a:pt x="144780" y="242212391"/>
                  </a:moveTo>
                  <a:lnTo>
                    <a:pt x="501949492" y="242212391"/>
                  </a:lnTo>
                  <a:lnTo>
                    <a:pt x="501949492" y="242357176"/>
                  </a:lnTo>
                  <a:lnTo>
                    <a:pt x="144780" y="242357176"/>
                  </a:lnTo>
                  <a:lnTo>
                    <a:pt x="144780" y="242212391"/>
                  </a:lnTo>
                  <a:close/>
                  <a:moveTo>
                    <a:pt x="501949492" y="0"/>
                  </a:moveTo>
                  <a:lnTo>
                    <a:pt x="502094252" y="0"/>
                  </a:lnTo>
                  <a:lnTo>
                    <a:pt x="502094252" y="144780"/>
                  </a:lnTo>
                  <a:lnTo>
                    <a:pt x="501949492" y="144780"/>
                  </a:lnTo>
                  <a:lnTo>
                    <a:pt x="5019494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01949492" y="0"/>
                  </a:lnTo>
                  <a:lnTo>
                    <a:pt x="5019494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28304" y="4444735"/>
            <a:ext cx="10682330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Partie 2 : Analyse des Images Satellitaires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Objectifs : Identifier des variations environnementales via les indices spectraux.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391984" y="4197038"/>
            <a:ext cx="3508334" cy="3593266"/>
          </a:xfrm>
          <a:custGeom>
            <a:avLst/>
            <a:gdLst/>
            <a:ahLst/>
            <a:cxnLst/>
            <a:rect r="r" b="b" t="t" l="l"/>
            <a:pathLst>
              <a:path h="3593266" w="3508334">
                <a:moveTo>
                  <a:pt x="0" y="0"/>
                </a:moveTo>
                <a:lnTo>
                  <a:pt x="3508334" y="0"/>
                </a:lnTo>
                <a:lnTo>
                  <a:pt x="3508334" y="3593266"/>
                </a:lnTo>
                <a:lnTo>
                  <a:pt x="0" y="3593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8348" y="1323975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PARTIE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33054" y="2803071"/>
            <a:ext cx="14601188" cy="6147801"/>
            <a:chOff x="0" y="0"/>
            <a:chExt cx="640594272" cy="2697209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40449481" cy="269576193"/>
            </a:xfrm>
            <a:custGeom>
              <a:avLst/>
              <a:gdLst/>
              <a:ahLst/>
              <a:cxnLst/>
              <a:rect r="r" b="b" t="t" l="l"/>
              <a:pathLst>
                <a:path h="269576193" w="640449481">
                  <a:moveTo>
                    <a:pt x="0" y="0"/>
                  </a:moveTo>
                  <a:lnTo>
                    <a:pt x="640449481" y="0"/>
                  </a:lnTo>
                  <a:lnTo>
                    <a:pt x="640449481" y="269576193"/>
                  </a:lnTo>
                  <a:lnTo>
                    <a:pt x="0" y="269576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594251" cy="269720963"/>
            </a:xfrm>
            <a:custGeom>
              <a:avLst/>
              <a:gdLst/>
              <a:ahLst/>
              <a:cxnLst/>
              <a:rect r="r" b="b" t="t" l="l"/>
              <a:pathLst>
                <a:path h="269720963" w="640594251">
                  <a:moveTo>
                    <a:pt x="640449491" y="269576178"/>
                  </a:moveTo>
                  <a:lnTo>
                    <a:pt x="640594251" y="269576178"/>
                  </a:lnTo>
                  <a:lnTo>
                    <a:pt x="640594251" y="269720963"/>
                  </a:lnTo>
                  <a:lnTo>
                    <a:pt x="640449491" y="269720963"/>
                  </a:lnTo>
                  <a:lnTo>
                    <a:pt x="640449491" y="2695761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69576178"/>
                  </a:lnTo>
                  <a:lnTo>
                    <a:pt x="0" y="269576178"/>
                  </a:lnTo>
                  <a:lnTo>
                    <a:pt x="0" y="144780"/>
                  </a:lnTo>
                  <a:close/>
                  <a:moveTo>
                    <a:pt x="0" y="269576178"/>
                  </a:moveTo>
                  <a:lnTo>
                    <a:pt x="144780" y="269576178"/>
                  </a:lnTo>
                  <a:lnTo>
                    <a:pt x="144780" y="269720963"/>
                  </a:lnTo>
                  <a:lnTo>
                    <a:pt x="0" y="269720963"/>
                  </a:lnTo>
                  <a:lnTo>
                    <a:pt x="0" y="269576178"/>
                  </a:lnTo>
                  <a:close/>
                  <a:moveTo>
                    <a:pt x="640449491" y="144780"/>
                  </a:moveTo>
                  <a:lnTo>
                    <a:pt x="640594251" y="144780"/>
                  </a:lnTo>
                  <a:lnTo>
                    <a:pt x="640594251" y="269576178"/>
                  </a:lnTo>
                  <a:lnTo>
                    <a:pt x="640449491" y="269576178"/>
                  </a:lnTo>
                  <a:lnTo>
                    <a:pt x="640449491" y="144780"/>
                  </a:lnTo>
                  <a:close/>
                  <a:moveTo>
                    <a:pt x="144780" y="269576178"/>
                  </a:moveTo>
                  <a:lnTo>
                    <a:pt x="640449491" y="269576178"/>
                  </a:lnTo>
                  <a:lnTo>
                    <a:pt x="640449491" y="269720963"/>
                  </a:lnTo>
                  <a:lnTo>
                    <a:pt x="144780" y="269720963"/>
                  </a:lnTo>
                  <a:lnTo>
                    <a:pt x="144780" y="269576178"/>
                  </a:lnTo>
                  <a:close/>
                  <a:moveTo>
                    <a:pt x="640449491" y="0"/>
                  </a:moveTo>
                  <a:lnTo>
                    <a:pt x="640594251" y="0"/>
                  </a:lnTo>
                  <a:lnTo>
                    <a:pt x="640594251" y="144780"/>
                  </a:lnTo>
                  <a:lnTo>
                    <a:pt x="640449491" y="144780"/>
                  </a:lnTo>
                  <a:lnTo>
                    <a:pt x="64044949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40449491" y="0"/>
                  </a:lnTo>
                  <a:lnTo>
                    <a:pt x="64044949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12524" y="3612562"/>
            <a:ext cx="13104402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Clusters temporels :</a:t>
            </a:r>
          </a:p>
          <a:p>
            <a:pPr algn="l" marL="2072642" indent="-518160" lvl="3">
              <a:lnSpc>
                <a:spcPts val="4480"/>
              </a:lnSpc>
              <a:buFont typeface="Arial"/>
              <a:buChar char="￭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Cluster 0 : Mois [1, 2, 3, 12].</a:t>
            </a:r>
          </a:p>
          <a:p>
            <a:pPr algn="l" marL="2072642" indent="-518160" lvl="3">
              <a:lnSpc>
                <a:spcPts val="4480"/>
              </a:lnSpc>
              <a:buFont typeface="Arial"/>
              <a:buChar char="￭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Cluster 1 : Mois [4, 5, 6, 9, 10, 11].</a:t>
            </a:r>
          </a:p>
          <a:p>
            <a:pPr algn="l" marL="2072642" indent="-518160" lvl="3">
              <a:lnSpc>
                <a:spcPts val="4480"/>
              </a:lnSpc>
              <a:buFont typeface="Arial"/>
              <a:buChar char="￭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Cluster 2 : Mois [7, 8].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Les indices NDVI et NDWI montrent des tendances saisonnières marquées.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395043" y="4597901"/>
            <a:ext cx="2581612" cy="2558143"/>
          </a:xfrm>
          <a:custGeom>
            <a:avLst/>
            <a:gdLst/>
            <a:ahLst/>
            <a:cxnLst/>
            <a:rect r="r" b="b" t="t" l="l"/>
            <a:pathLst>
              <a:path h="2558143" w="2581612">
                <a:moveTo>
                  <a:pt x="0" y="0"/>
                </a:moveTo>
                <a:lnTo>
                  <a:pt x="2581612" y="0"/>
                </a:lnTo>
                <a:lnTo>
                  <a:pt x="2581612" y="2558143"/>
                </a:lnTo>
                <a:lnTo>
                  <a:pt x="0" y="2558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8348" y="105183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RÉSULTATS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7BA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1733" y="2694214"/>
            <a:ext cx="15063830" cy="6188340"/>
            <a:chOff x="0" y="0"/>
            <a:chExt cx="660891687" cy="271499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60746908" cy="271354714"/>
            </a:xfrm>
            <a:custGeom>
              <a:avLst/>
              <a:gdLst/>
              <a:ahLst/>
              <a:cxnLst/>
              <a:rect r="r" b="b" t="t" l="l"/>
              <a:pathLst>
                <a:path h="271354714" w="660746908">
                  <a:moveTo>
                    <a:pt x="0" y="0"/>
                  </a:moveTo>
                  <a:lnTo>
                    <a:pt x="660746908" y="0"/>
                  </a:lnTo>
                  <a:lnTo>
                    <a:pt x="660746908" y="271354714"/>
                  </a:lnTo>
                  <a:lnTo>
                    <a:pt x="0" y="271354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891679" cy="271499484"/>
            </a:xfrm>
            <a:custGeom>
              <a:avLst/>
              <a:gdLst/>
              <a:ahLst/>
              <a:cxnLst/>
              <a:rect r="r" b="b" t="t" l="l"/>
              <a:pathLst>
                <a:path h="271499484" w="660891679">
                  <a:moveTo>
                    <a:pt x="660746918" y="271354724"/>
                  </a:moveTo>
                  <a:lnTo>
                    <a:pt x="660891679" y="271354724"/>
                  </a:lnTo>
                  <a:lnTo>
                    <a:pt x="660891679" y="271499484"/>
                  </a:lnTo>
                  <a:lnTo>
                    <a:pt x="660746918" y="271499484"/>
                  </a:lnTo>
                  <a:lnTo>
                    <a:pt x="660746918" y="2713547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71354724"/>
                  </a:lnTo>
                  <a:lnTo>
                    <a:pt x="0" y="271354724"/>
                  </a:lnTo>
                  <a:lnTo>
                    <a:pt x="0" y="144780"/>
                  </a:lnTo>
                  <a:close/>
                  <a:moveTo>
                    <a:pt x="0" y="271354724"/>
                  </a:moveTo>
                  <a:lnTo>
                    <a:pt x="144780" y="271354724"/>
                  </a:lnTo>
                  <a:lnTo>
                    <a:pt x="144780" y="271499484"/>
                  </a:lnTo>
                  <a:lnTo>
                    <a:pt x="0" y="271499484"/>
                  </a:lnTo>
                  <a:lnTo>
                    <a:pt x="0" y="271354724"/>
                  </a:lnTo>
                  <a:close/>
                  <a:moveTo>
                    <a:pt x="660746918" y="144780"/>
                  </a:moveTo>
                  <a:lnTo>
                    <a:pt x="660891679" y="144780"/>
                  </a:lnTo>
                  <a:lnTo>
                    <a:pt x="660891679" y="271354724"/>
                  </a:lnTo>
                  <a:lnTo>
                    <a:pt x="660746918" y="271354724"/>
                  </a:lnTo>
                  <a:lnTo>
                    <a:pt x="660746918" y="144780"/>
                  </a:lnTo>
                  <a:close/>
                  <a:moveTo>
                    <a:pt x="144780" y="271354724"/>
                  </a:moveTo>
                  <a:lnTo>
                    <a:pt x="660746918" y="271354724"/>
                  </a:lnTo>
                  <a:lnTo>
                    <a:pt x="660746918" y="271499484"/>
                  </a:lnTo>
                  <a:lnTo>
                    <a:pt x="144780" y="271499484"/>
                  </a:lnTo>
                  <a:lnTo>
                    <a:pt x="144780" y="271354724"/>
                  </a:lnTo>
                  <a:close/>
                  <a:moveTo>
                    <a:pt x="660746918" y="0"/>
                  </a:moveTo>
                  <a:lnTo>
                    <a:pt x="660891679" y="0"/>
                  </a:lnTo>
                  <a:lnTo>
                    <a:pt x="660891679" y="144780"/>
                  </a:lnTo>
                  <a:lnTo>
                    <a:pt x="660746918" y="144780"/>
                  </a:lnTo>
                  <a:lnTo>
                    <a:pt x="6607469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60746918" y="0"/>
                  </a:lnTo>
                  <a:lnTo>
                    <a:pt x="6607469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52667" y="4391116"/>
            <a:ext cx="14192973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Partie 3 : Fusion des Données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Objectifs : Croiser les indices spectraux avec les données environnementales.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18348" y="1160689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PARTIE 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33054" y="2894872"/>
            <a:ext cx="10981688" cy="5766801"/>
            <a:chOff x="0" y="0"/>
            <a:chExt cx="481796848" cy="253005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481652054" cy="252860661"/>
            </a:xfrm>
            <a:custGeom>
              <a:avLst/>
              <a:gdLst/>
              <a:ahLst/>
              <a:cxnLst/>
              <a:rect r="r" b="b" t="t" l="l"/>
              <a:pathLst>
                <a:path h="252860661" w="481652054">
                  <a:moveTo>
                    <a:pt x="0" y="0"/>
                  </a:moveTo>
                  <a:lnTo>
                    <a:pt x="481652054" y="0"/>
                  </a:lnTo>
                  <a:lnTo>
                    <a:pt x="481652054" y="252860661"/>
                  </a:lnTo>
                  <a:lnTo>
                    <a:pt x="0" y="252860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796874" cy="253005456"/>
            </a:xfrm>
            <a:custGeom>
              <a:avLst/>
              <a:gdLst/>
              <a:ahLst/>
              <a:cxnLst/>
              <a:rect r="r" b="b" t="t" l="l"/>
              <a:pathLst>
                <a:path h="253005456" w="481796874">
                  <a:moveTo>
                    <a:pt x="481652064" y="252860671"/>
                  </a:moveTo>
                  <a:lnTo>
                    <a:pt x="481796874" y="252860671"/>
                  </a:lnTo>
                  <a:lnTo>
                    <a:pt x="481796874" y="253005456"/>
                  </a:lnTo>
                  <a:lnTo>
                    <a:pt x="481652064" y="253005456"/>
                  </a:lnTo>
                  <a:lnTo>
                    <a:pt x="481652064" y="25286067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2860671"/>
                  </a:lnTo>
                  <a:lnTo>
                    <a:pt x="0" y="252860671"/>
                  </a:lnTo>
                  <a:lnTo>
                    <a:pt x="0" y="144780"/>
                  </a:lnTo>
                  <a:close/>
                  <a:moveTo>
                    <a:pt x="0" y="252860671"/>
                  </a:moveTo>
                  <a:lnTo>
                    <a:pt x="144780" y="252860671"/>
                  </a:lnTo>
                  <a:lnTo>
                    <a:pt x="144780" y="253005456"/>
                  </a:lnTo>
                  <a:lnTo>
                    <a:pt x="0" y="253005456"/>
                  </a:lnTo>
                  <a:lnTo>
                    <a:pt x="0" y="252860671"/>
                  </a:lnTo>
                  <a:close/>
                  <a:moveTo>
                    <a:pt x="481652064" y="144780"/>
                  </a:moveTo>
                  <a:lnTo>
                    <a:pt x="481796874" y="144780"/>
                  </a:lnTo>
                  <a:lnTo>
                    <a:pt x="481796874" y="252860671"/>
                  </a:lnTo>
                  <a:lnTo>
                    <a:pt x="481652064" y="252860671"/>
                  </a:lnTo>
                  <a:lnTo>
                    <a:pt x="481652064" y="144780"/>
                  </a:lnTo>
                  <a:close/>
                  <a:moveTo>
                    <a:pt x="144780" y="252860671"/>
                  </a:moveTo>
                  <a:lnTo>
                    <a:pt x="481652064" y="252860671"/>
                  </a:lnTo>
                  <a:lnTo>
                    <a:pt x="481652064" y="253005456"/>
                  </a:lnTo>
                  <a:lnTo>
                    <a:pt x="144780" y="253005456"/>
                  </a:lnTo>
                  <a:lnTo>
                    <a:pt x="144780" y="252860671"/>
                  </a:lnTo>
                  <a:close/>
                  <a:moveTo>
                    <a:pt x="481652064" y="0"/>
                  </a:moveTo>
                  <a:lnTo>
                    <a:pt x="481796874" y="0"/>
                  </a:lnTo>
                  <a:lnTo>
                    <a:pt x="481796874" y="144780"/>
                  </a:lnTo>
                  <a:lnTo>
                    <a:pt x="481652064" y="144780"/>
                  </a:lnTo>
                  <a:lnTo>
                    <a:pt x="48165206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81652064" y="0"/>
                  </a:lnTo>
                  <a:lnTo>
                    <a:pt x="48165206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106363" y="4100189"/>
            <a:ext cx="3852686" cy="3210572"/>
          </a:xfrm>
          <a:custGeom>
            <a:avLst/>
            <a:gdLst/>
            <a:ahLst/>
            <a:cxnLst/>
            <a:rect r="r" b="b" t="t" l="l"/>
            <a:pathLst>
              <a:path h="3210572" w="3852686">
                <a:moveTo>
                  <a:pt x="0" y="0"/>
                </a:moveTo>
                <a:lnTo>
                  <a:pt x="3852686" y="0"/>
                </a:lnTo>
                <a:lnTo>
                  <a:pt x="3852686" y="3210572"/>
                </a:lnTo>
                <a:lnTo>
                  <a:pt x="0" y="321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18241" y="4075838"/>
            <a:ext cx="9566545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Forte corrélation entre tous les indices  et les nutriments.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Identification des périodes optimales pour chaque culture.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8348" y="105183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RÉSULTATS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37594" y="3545201"/>
            <a:ext cx="10445852" cy="5061072"/>
            <a:chOff x="0" y="0"/>
            <a:chExt cx="463251160" cy="224447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463106383" cy="224302900"/>
            </a:xfrm>
            <a:custGeom>
              <a:avLst/>
              <a:gdLst/>
              <a:ahLst/>
              <a:cxnLst/>
              <a:rect r="r" b="b" t="t" l="l"/>
              <a:pathLst>
                <a:path h="224302900" w="463106383">
                  <a:moveTo>
                    <a:pt x="0" y="0"/>
                  </a:moveTo>
                  <a:lnTo>
                    <a:pt x="463106383" y="0"/>
                  </a:lnTo>
                  <a:lnTo>
                    <a:pt x="463106383" y="224302900"/>
                  </a:lnTo>
                  <a:lnTo>
                    <a:pt x="0" y="224302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251153" cy="224447695"/>
            </a:xfrm>
            <a:custGeom>
              <a:avLst/>
              <a:gdLst/>
              <a:ahLst/>
              <a:cxnLst/>
              <a:rect r="r" b="b" t="t" l="l"/>
              <a:pathLst>
                <a:path h="224447695" w="463251153">
                  <a:moveTo>
                    <a:pt x="463106393" y="224302910"/>
                  </a:moveTo>
                  <a:lnTo>
                    <a:pt x="463251153" y="224302910"/>
                  </a:lnTo>
                  <a:lnTo>
                    <a:pt x="463251153" y="224447695"/>
                  </a:lnTo>
                  <a:lnTo>
                    <a:pt x="463106393" y="224447695"/>
                  </a:lnTo>
                  <a:lnTo>
                    <a:pt x="463106393" y="2243029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24302910"/>
                  </a:lnTo>
                  <a:lnTo>
                    <a:pt x="0" y="224302910"/>
                  </a:lnTo>
                  <a:lnTo>
                    <a:pt x="0" y="144780"/>
                  </a:lnTo>
                  <a:close/>
                  <a:moveTo>
                    <a:pt x="0" y="224302910"/>
                  </a:moveTo>
                  <a:lnTo>
                    <a:pt x="144780" y="224302910"/>
                  </a:lnTo>
                  <a:lnTo>
                    <a:pt x="144780" y="224447695"/>
                  </a:lnTo>
                  <a:lnTo>
                    <a:pt x="0" y="224447695"/>
                  </a:lnTo>
                  <a:lnTo>
                    <a:pt x="0" y="224302910"/>
                  </a:lnTo>
                  <a:close/>
                  <a:moveTo>
                    <a:pt x="463106393" y="144780"/>
                  </a:moveTo>
                  <a:lnTo>
                    <a:pt x="463251153" y="144780"/>
                  </a:lnTo>
                  <a:lnTo>
                    <a:pt x="463251153" y="224302910"/>
                  </a:lnTo>
                  <a:lnTo>
                    <a:pt x="463106393" y="224302910"/>
                  </a:lnTo>
                  <a:lnTo>
                    <a:pt x="463106393" y="144780"/>
                  </a:lnTo>
                  <a:close/>
                  <a:moveTo>
                    <a:pt x="144780" y="224302910"/>
                  </a:moveTo>
                  <a:lnTo>
                    <a:pt x="463106393" y="224302910"/>
                  </a:lnTo>
                  <a:lnTo>
                    <a:pt x="463106393" y="224447695"/>
                  </a:lnTo>
                  <a:lnTo>
                    <a:pt x="144780" y="224447695"/>
                  </a:lnTo>
                  <a:lnTo>
                    <a:pt x="144780" y="224302910"/>
                  </a:lnTo>
                  <a:close/>
                  <a:moveTo>
                    <a:pt x="463106393" y="0"/>
                  </a:moveTo>
                  <a:lnTo>
                    <a:pt x="463251153" y="0"/>
                  </a:lnTo>
                  <a:lnTo>
                    <a:pt x="463251153" y="144780"/>
                  </a:lnTo>
                  <a:lnTo>
                    <a:pt x="463106393" y="144780"/>
                  </a:lnTo>
                  <a:lnTo>
                    <a:pt x="46310639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63106393" y="0"/>
                  </a:lnTo>
                  <a:lnTo>
                    <a:pt x="46310639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03911" y="3649565"/>
            <a:ext cx="10682330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Objectifs : Prédire les cultures optimales.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Résultats 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Cluster 0 : Mois 2 → Banane.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Cluster 1 : Mois 5 → Papaye.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Cluster 2 : Mois 7 → Mangue.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28543" y="885825"/>
            <a:ext cx="14330123" cy="265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9"/>
              </a:lnSpc>
            </a:pPr>
            <a:r>
              <a:rPr lang="en-US" sz="7621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MODÉLISATION ET PRÉDICTIONS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483446" y="4117341"/>
            <a:ext cx="3508334" cy="3593266"/>
          </a:xfrm>
          <a:custGeom>
            <a:avLst/>
            <a:gdLst/>
            <a:ahLst/>
            <a:cxnLst/>
            <a:rect r="r" b="b" t="t" l="l"/>
            <a:pathLst>
              <a:path h="3593266" w="3508334">
                <a:moveTo>
                  <a:pt x="0" y="0"/>
                </a:moveTo>
                <a:lnTo>
                  <a:pt x="3508334" y="0"/>
                </a:lnTo>
                <a:lnTo>
                  <a:pt x="3508334" y="3593267"/>
                </a:lnTo>
                <a:lnTo>
                  <a:pt x="0" y="3593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7240" y="1304496"/>
            <a:ext cx="14484376" cy="1058857"/>
            <a:chOff x="0" y="0"/>
            <a:chExt cx="635469404" cy="464549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35324634" cy="46310193"/>
            </a:xfrm>
            <a:custGeom>
              <a:avLst/>
              <a:gdLst/>
              <a:ahLst/>
              <a:cxnLst/>
              <a:rect r="r" b="b" t="t" l="l"/>
              <a:pathLst>
                <a:path h="46310193" w="635324634">
                  <a:moveTo>
                    <a:pt x="0" y="0"/>
                  </a:moveTo>
                  <a:lnTo>
                    <a:pt x="635324634" y="0"/>
                  </a:lnTo>
                  <a:lnTo>
                    <a:pt x="635324634" y="46310193"/>
                  </a:lnTo>
                  <a:lnTo>
                    <a:pt x="0" y="4631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469404" cy="46454972"/>
            </a:xfrm>
            <a:custGeom>
              <a:avLst/>
              <a:gdLst/>
              <a:ahLst/>
              <a:cxnLst/>
              <a:rect r="r" b="b" t="t" l="l"/>
              <a:pathLst>
                <a:path h="46454972" w="635469404">
                  <a:moveTo>
                    <a:pt x="635324644" y="46310193"/>
                  </a:moveTo>
                  <a:lnTo>
                    <a:pt x="635469404" y="46310193"/>
                  </a:lnTo>
                  <a:lnTo>
                    <a:pt x="635469404" y="46454972"/>
                  </a:lnTo>
                  <a:lnTo>
                    <a:pt x="635324644" y="46454972"/>
                  </a:lnTo>
                  <a:lnTo>
                    <a:pt x="635324644" y="4631019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6310193"/>
                  </a:lnTo>
                  <a:lnTo>
                    <a:pt x="0" y="46310193"/>
                  </a:lnTo>
                  <a:lnTo>
                    <a:pt x="0" y="144780"/>
                  </a:lnTo>
                  <a:close/>
                  <a:moveTo>
                    <a:pt x="0" y="46310193"/>
                  </a:moveTo>
                  <a:lnTo>
                    <a:pt x="144780" y="46310193"/>
                  </a:lnTo>
                  <a:lnTo>
                    <a:pt x="144780" y="46454972"/>
                  </a:lnTo>
                  <a:lnTo>
                    <a:pt x="0" y="46454972"/>
                  </a:lnTo>
                  <a:lnTo>
                    <a:pt x="0" y="46310193"/>
                  </a:lnTo>
                  <a:close/>
                  <a:moveTo>
                    <a:pt x="635324644" y="144780"/>
                  </a:moveTo>
                  <a:lnTo>
                    <a:pt x="635469404" y="144780"/>
                  </a:lnTo>
                  <a:lnTo>
                    <a:pt x="635469404" y="46310193"/>
                  </a:lnTo>
                  <a:lnTo>
                    <a:pt x="635324644" y="46310193"/>
                  </a:lnTo>
                  <a:lnTo>
                    <a:pt x="635324644" y="144780"/>
                  </a:lnTo>
                  <a:close/>
                  <a:moveTo>
                    <a:pt x="144780" y="46310193"/>
                  </a:moveTo>
                  <a:lnTo>
                    <a:pt x="635324644" y="46310193"/>
                  </a:lnTo>
                  <a:lnTo>
                    <a:pt x="635324644" y="46454972"/>
                  </a:lnTo>
                  <a:lnTo>
                    <a:pt x="144780" y="46454972"/>
                  </a:lnTo>
                  <a:lnTo>
                    <a:pt x="144780" y="46310193"/>
                  </a:lnTo>
                  <a:close/>
                  <a:moveTo>
                    <a:pt x="635324644" y="0"/>
                  </a:moveTo>
                  <a:lnTo>
                    <a:pt x="635469404" y="0"/>
                  </a:lnTo>
                  <a:lnTo>
                    <a:pt x="635469404" y="144780"/>
                  </a:lnTo>
                  <a:lnTo>
                    <a:pt x="635324644" y="144780"/>
                  </a:lnTo>
                  <a:lnTo>
                    <a:pt x="63532464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35324644" y="0"/>
                  </a:lnTo>
                  <a:lnTo>
                    <a:pt x="63532464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515208" y="2512461"/>
          <a:ext cx="15550662" cy="6573012"/>
        </p:xfrm>
        <a:graphic>
          <a:graphicData uri="http://schemas.openxmlformats.org/drawingml/2006/table">
            <a:tbl>
              <a:tblPr/>
              <a:tblGrid>
                <a:gridCol w="1387020"/>
                <a:gridCol w="1357677"/>
                <a:gridCol w="1416364"/>
                <a:gridCol w="1885862"/>
                <a:gridCol w="1256718"/>
                <a:gridCol w="1194543"/>
                <a:gridCol w="1387020"/>
                <a:gridCol w="1357677"/>
                <a:gridCol w="1504395"/>
                <a:gridCol w="1269646"/>
                <a:gridCol w="1533739"/>
              </a:tblGrid>
              <a:tr h="20142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Cluster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Mois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Mois le plus proche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Culture suggérée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N (mg/kg)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P (mg/kg)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K (mg/kg)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Température (°C)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Humidité (%)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pH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Précipitations (mm)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39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1, 2, 3, 12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Banane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50.78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47.99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33.14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23.31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54.98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6.90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0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4, 5, 6, 9, 10, 11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Papaye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50.53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47.69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33.08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29.57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54.87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6.99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39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7, 8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Mangue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48.77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47.05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33.71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34.08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52.16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6.86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2048351" y="1582471"/>
            <a:ext cx="14484376" cy="45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LES RÉSULTATS FINAUX SONT PRÉSENTÉS DANS LE TABLEAU CI-DESSOUS 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7BA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18348" y="1039379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47513" y="2919188"/>
            <a:ext cx="14592814" cy="6072231"/>
            <a:chOff x="0" y="0"/>
            <a:chExt cx="640226898" cy="2664054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40082123" cy="266260699"/>
            </a:xfrm>
            <a:custGeom>
              <a:avLst/>
              <a:gdLst/>
              <a:ahLst/>
              <a:cxnLst/>
              <a:rect r="r" b="b" t="t" l="l"/>
              <a:pathLst>
                <a:path h="266260699" w="640082123">
                  <a:moveTo>
                    <a:pt x="0" y="0"/>
                  </a:moveTo>
                  <a:lnTo>
                    <a:pt x="640082123" y="0"/>
                  </a:lnTo>
                  <a:lnTo>
                    <a:pt x="640082123" y="266260699"/>
                  </a:lnTo>
                  <a:lnTo>
                    <a:pt x="0" y="266260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226893" cy="266405469"/>
            </a:xfrm>
            <a:custGeom>
              <a:avLst/>
              <a:gdLst/>
              <a:ahLst/>
              <a:cxnLst/>
              <a:rect r="r" b="b" t="t" l="l"/>
              <a:pathLst>
                <a:path h="266405469" w="640226893">
                  <a:moveTo>
                    <a:pt x="640082133" y="266260709"/>
                  </a:moveTo>
                  <a:lnTo>
                    <a:pt x="640226893" y="266260709"/>
                  </a:lnTo>
                  <a:lnTo>
                    <a:pt x="640226893" y="266405469"/>
                  </a:lnTo>
                  <a:lnTo>
                    <a:pt x="640082133" y="266405469"/>
                  </a:lnTo>
                  <a:lnTo>
                    <a:pt x="640082133" y="26626070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66260709"/>
                  </a:lnTo>
                  <a:lnTo>
                    <a:pt x="0" y="266260709"/>
                  </a:lnTo>
                  <a:lnTo>
                    <a:pt x="0" y="144780"/>
                  </a:lnTo>
                  <a:close/>
                  <a:moveTo>
                    <a:pt x="0" y="266260709"/>
                  </a:moveTo>
                  <a:lnTo>
                    <a:pt x="144780" y="266260709"/>
                  </a:lnTo>
                  <a:lnTo>
                    <a:pt x="144780" y="266405469"/>
                  </a:lnTo>
                  <a:lnTo>
                    <a:pt x="0" y="266405469"/>
                  </a:lnTo>
                  <a:lnTo>
                    <a:pt x="0" y="266260709"/>
                  </a:lnTo>
                  <a:close/>
                  <a:moveTo>
                    <a:pt x="640082133" y="144780"/>
                  </a:moveTo>
                  <a:lnTo>
                    <a:pt x="640226893" y="144780"/>
                  </a:lnTo>
                  <a:lnTo>
                    <a:pt x="640226893" y="266260709"/>
                  </a:lnTo>
                  <a:lnTo>
                    <a:pt x="640082133" y="266260709"/>
                  </a:lnTo>
                  <a:lnTo>
                    <a:pt x="640082133" y="144780"/>
                  </a:lnTo>
                  <a:close/>
                  <a:moveTo>
                    <a:pt x="144780" y="266260709"/>
                  </a:moveTo>
                  <a:lnTo>
                    <a:pt x="640082133" y="266260709"/>
                  </a:lnTo>
                  <a:lnTo>
                    <a:pt x="640082133" y="266405469"/>
                  </a:lnTo>
                  <a:lnTo>
                    <a:pt x="144780" y="266405469"/>
                  </a:lnTo>
                  <a:lnTo>
                    <a:pt x="144780" y="266260709"/>
                  </a:lnTo>
                  <a:close/>
                  <a:moveTo>
                    <a:pt x="640082133" y="0"/>
                  </a:moveTo>
                  <a:lnTo>
                    <a:pt x="640226893" y="0"/>
                  </a:lnTo>
                  <a:lnTo>
                    <a:pt x="640226893" y="144780"/>
                  </a:lnTo>
                  <a:lnTo>
                    <a:pt x="640082133" y="144780"/>
                  </a:lnTo>
                  <a:lnTo>
                    <a:pt x="64008213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40082133" y="0"/>
                  </a:lnTo>
                  <a:lnTo>
                    <a:pt x="64008213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047513" y="2833825"/>
            <a:ext cx="14107144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  Synthèse :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Prédiction des variables environnementales via images satellitaires.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Association à des cultures optimales.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Réduction des coûts et efforts de collecte de données terrain.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   Impact 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Applicabilité à grande échelle.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Optimisation de la gestion agricole et durabilité accrue.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18348" y="1160689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SYNTHÈSE&amp;IMPACT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DAGbPxxQsq8</dc:identifier>
  <dcterms:modified xsi:type="dcterms:W3CDTF">2011-08-01T06:04:30Z</dcterms:modified>
  <cp:revision>1</cp:revision>
  <dc:title>Wissal Ouhassine</dc:title>
</cp:coreProperties>
</file>